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CARIBBEAN METADATA STANDARD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Open Framework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Caribbean Content Indexing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27889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platform-ready metadata standard — enabling accurate discovery,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and monetisation of Caribbean creative content.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3977640"/>
            <a:ext cx="8503920" cy="658368"/>
          </a:xfrm>
          <a:prstGeom prst="rect">
            <a:avLst/>
          </a:prstGeom>
          <a:solidFill>
            <a:srgbClr val="00293D"/>
          </a:solidFill>
          <a:ln w="12700">
            <a:solidFill>
              <a:srgbClr val="0029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9959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43159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40280" y="39959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40280" y="43159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977640" y="39959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77640" y="43159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Markers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15000" y="39959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715000" y="43159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52360" y="39959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52360" y="43159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Domains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caribbeanmetadata.org  ·  Caribwood Language Lab, Guadeloupe  · 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Caribbean content is invisible to your algorithms.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" cy="233172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lack categories for Caribbean genres, dialects and cultural nuances. Konpa becomes 'Latin music'. Gwo Ka becomes 'World music'. Identity is erased.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325880"/>
            <a:ext cx="54864" cy="233172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Blindness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737360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engines cannot promote what they cannot interpret. Caribbean content is systematically under-recommended — regardless of its quality.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325880"/>
            <a:ext cx="54864" cy="233172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Dilution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737360"/>
            <a:ext cx="2468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proper metadata, Caribbean identity is flattened into generic categories. A Martinican film becomes 'French'. A Jamaican documentary becomes 'English'.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 million people in the Caribbean and diaspora — systematically under-served by global platforms.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semantic layer your systems can read.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CMS adds a Caribbean metadata layer on top of standards you already use — Dublin Core, schema.org, EBUCore. No replacement. Pure extension.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51760" cy="1143000"/>
          </a:xfrm>
          <a:prstGeom prst="rect">
            <a:avLst/>
          </a:prstGeom>
          <a:solidFill>
            <a:srgbClr val="F0F7FA"/>
          </a:solidFill>
          <a:ln w="12700">
            <a:solidFill>
              <a:srgbClr val="C8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54864" cy="114300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Linguistic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3500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dialect, code-switching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874520"/>
            <a:ext cx="2651760" cy="114300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874520"/>
            <a:ext cx="54864" cy="114300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011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Cultural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23500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markers, traditions, heritage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874520"/>
            <a:ext cx="2651760" cy="1143000"/>
          </a:xfrm>
          <a:prstGeom prst="rect">
            <a:avLst/>
          </a:prstGeom>
          <a:solidFill>
            <a:srgbClr val="F0F7FA"/>
          </a:solidFill>
          <a:ln w="12700">
            <a:solidFill>
              <a:srgbClr val="C8E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874520"/>
            <a:ext cx="54864" cy="114300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011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Narrative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23500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Genre, narrative style, themes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2651760" cy="114300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5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00400"/>
            <a:ext cx="54864" cy="114300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3375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Rhythmic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6758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Tempo, rhythm pattern, musical style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3200400"/>
            <a:ext cx="2651760" cy="1143000"/>
          </a:xfrm>
          <a:prstGeom prst="rect">
            <a:avLst/>
          </a:prstGeom>
          <a:solidFill>
            <a:srgbClr val="F0F7FA"/>
          </a:solidFill>
          <a:ln w="12700">
            <a:solidFill>
              <a:srgbClr val="C8E5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3200400"/>
            <a:ext cx="54864" cy="114300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3375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Geographic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36758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Territory, environment, diaspora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3200400"/>
            <a:ext cx="2651760" cy="114300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5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3200400"/>
            <a:ext cx="54864" cy="114300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3375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Socio-historical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36758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markers, identity, memory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3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JSON-LD — compatible with your existing stack.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3520440"/>
          </a:xfrm>
          <a:prstGeom prst="rect">
            <a:avLst/>
          </a:prstGeom>
          <a:solidFill>
            <a:srgbClr val="001F33"/>
          </a:solidFill>
          <a:ln w="12700">
            <a:solidFill>
              <a:srgbClr val="0041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533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C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"@context": "https://schema.org/",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847088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C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"@type": "Movie",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09397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C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"Anba Dlo",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340864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C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"inLanguage": "ht",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5877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CF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"cms:territory": "Haiti",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081528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CF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"cms:linguistic_marker": "Haitian Creole",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32841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CF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"cms:cultural_markers": ["Vodou", "Rara"],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575304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CF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"cms:narrative_genre": "Documentary",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82219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CF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"cms:certification": "Gold",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406908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CF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"cms:standard_version": "CMS-2.0"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4315968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1325880"/>
            <a:ext cx="2926080" cy="1005840"/>
          </a:xfrm>
          <a:prstGeom prst="rect">
            <a:avLst/>
          </a:prstGeom>
          <a:solidFill>
            <a:srgbClr val="00293D"/>
          </a:solidFill>
          <a:ln w="12700">
            <a:solidFill>
              <a:srgbClr val="0041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1325880"/>
            <a:ext cx="54864" cy="100584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schema.org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97880" y="17099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existing metadata — unchanged.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60720" y="2514600"/>
            <a:ext cx="2926080" cy="1005840"/>
          </a:xfrm>
          <a:prstGeom prst="rect">
            <a:avLst/>
          </a:prstGeom>
          <a:solidFill>
            <a:srgbClr val="00293D"/>
          </a:solidFill>
          <a:ln w="12700">
            <a:solidFill>
              <a:srgbClr val="0041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2514600"/>
            <a:ext cx="54864" cy="1005840"/>
          </a:xfrm>
          <a:prstGeom prst="rect">
            <a:avLst/>
          </a:prstGeom>
          <a:solidFill>
            <a:srgbClr val="00A8AE"/>
          </a:solidFill>
          <a:ln w="12700">
            <a:solidFill>
              <a:srgbClr val="00A8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CMS layer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97880" y="28986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new fields. Caribbean identity, readable by any system.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60720" y="3703320"/>
            <a:ext cx="2926080" cy="1005840"/>
          </a:xfrm>
          <a:prstGeom prst="rect">
            <a:avLst/>
          </a:prstGeom>
          <a:solidFill>
            <a:srgbClr val="00293D"/>
          </a:solidFill>
          <a:ln w="12700">
            <a:solidFill>
              <a:srgbClr val="0041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0" y="3703320"/>
            <a:ext cx="54864" cy="1005840"/>
          </a:xfrm>
          <a:prstGeom prst="rect">
            <a:avLst/>
          </a:prstGeom>
          <a:solidFill>
            <a:srgbClr val="00838A"/>
          </a:solidFill>
          <a:ln w="12700">
            <a:solidFill>
              <a:srgbClr val="0083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badge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97880" y="40873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Platinum. Verifiable cultural authenticity score.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integration levels: Basic (hours) · Structured (days) · Native (weeks)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data. Ready to use. Open source.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structured Caribbean cultural dataset — verified, licensed CC-BY 4.0, available now.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0136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12848" y="169164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12848" y="180136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212848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68496" y="169164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68496" y="180136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968496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Markers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24144" y="169164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24144" y="180136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724144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79792" y="169164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9792" y="180136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479792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Domains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4114800" cy="1691640"/>
          </a:xfrm>
          <a:prstGeom prst="rect">
            <a:avLst/>
          </a:prstGeom>
          <a:solidFill>
            <a:srgbClr val="F0F7FA"/>
          </a:solidFill>
          <a:ln w="12700">
            <a:solidFill>
              <a:srgbClr val="C8E5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182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covered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49300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Haitian Creole · Guadeloupean Creole · Antillean Creole · Jamaican Patois · Papiamentu · Sranan Tongo · Dutch Caribbean · Caribbean French · Caribbean Spanish · Caribbean English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3063240"/>
            <a:ext cx="3931920" cy="1691640"/>
          </a:xfrm>
          <a:prstGeom prst="rect">
            <a:avLst/>
          </a:prstGeom>
          <a:solidFill>
            <a:srgbClr val="F0F7FA"/>
          </a:solidFill>
          <a:ln w="12700">
            <a:solidFill>
              <a:srgbClr val="C8E5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182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markers (sample)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493008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Gwo Ka · Bèlè · Konpa · Zouk · Calypso · Reggae · Ska · Dancehall · Tumba · Soca · Son Cubano · Salsa · Rara · Vodou · Orisha · Rastafari · Carnival · Kaseko · Bouyon + 8 more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github.com/heso73/cms-nlp-corpus  ·  CC-BY 4.0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verifiable quality signal for your platform.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CMS-tagged piece of content receives a cultural authenticity score — verifiable, filterable, actionable.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2011680" cy="502920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20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6928" y="274320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Caribbean identity markers present.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33472" y="173736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33472" y="1737360"/>
            <a:ext cx="2011680" cy="50292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737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33472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40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0" y="274320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cultural anchoring — language, territory, genre.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9744" y="173736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9744" y="1737360"/>
            <a:ext cx="2011680" cy="502920"/>
          </a:xfrm>
          <a:prstGeom prst="rect">
            <a:avLst/>
          </a:prstGeom>
          <a:solidFill>
            <a:srgbClr val="C9943A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1737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9744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65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19472" y="274320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metadata — multiple families, validated markers.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86016" y="173736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86016" y="1737360"/>
            <a:ext cx="2011680" cy="502920"/>
          </a:xfrm>
          <a:prstGeom prst="rect">
            <a:avLst/>
          </a:prstGeom>
          <a:solidFill>
            <a:srgbClr val="4A9E8A"/>
          </a:solidFill>
          <a:ln w="12700">
            <a:solidFill>
              <a:srgbClr val="4A9E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86016" y="1737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86016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85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95744" y="274320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cultural depth. Ideal for heritage &amp; curation.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calculated across all 6 metadata families. Fully automated — no manual review required.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 case: filter by certification level · surface authentically certified Caribbean content · power editorial collections.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GAIN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a 600M+ audience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algorithms currently miss.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114800" cy="960120"/>
          </a:xfrm>
          <a:prstGeom prst="rect">
            <a:avLst/>
          </a:prstGeom>
          <a:solidFill>
            <a:srgbClr val="00293D"/>
          </a:solidFill>
          <a:ln w="12700">
            <a:solidFill>
              <a:srgbClr val="0041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54864" cy="96012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647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Indexing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07568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Caribbean content with 27 cultural markers across 10 languages — genres and nuances invisible to generic systems.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1691640"/>
            <a:ext cx="4114800" cy="960120"/>
          </a:xfrm>
          <a:prstGeom prst="rect">
            <a:avLst/>
          </a:prstGeom>
          <a:solidFill>
            <a:srgbClr val="00293D"/>
          </a:solidFill>
          <a:ln w="12700">
            <a:solidFill>
              <a:srgbClr val="0041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691640"/>
            <a:ext cx="54864" cy="96012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7647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Quality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207568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your recommendation engine with structured cultural signals. Improve match rates for Caribbean and diaspora audiences.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4114800" cy="960120"/>
          </a:xfrm>
          <a:prstGeom prst="rect">
            <a:avLst/>
          </a:prstGeom>
          <a:solidFill>
            <a:srgbClr val="00293D"/>
          </a:solidFill>
          <a:ln w="12700">
            <a:solidFill>
              <a:srgbClr val="0041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88920"/>
            <a:ext cx="54864" cy="96012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620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Market Access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17296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600M+ Caribbean and diaspora users — an addressable, underserved market with strong cultural identity and purchasing power.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2788920"/>
            <a:ext cx="4114800" cy="960120"/>
          </a:xfrm>
          <a:prstGeom prst="rect">
            <a:avLst/>
          </a:prstGeom>
          <a:solidFill>
            <a:srgbClr val="00293D"/>
          </a:solidFill>
          <a:ln w="12700">
            <a:solidFill>
              <a:srgbClr val="0041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788920"/>
            <a:ext cx="54864" cy="96012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8620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Differentiation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317296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certified Caribbean collections, playlists and categories. A credible, verifiable signal your editorial team can stand behind.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4114800" cy="960120"/>
          </a:xfrm>
          <a:prstGeom prst="rect">
            <a:avLst/>
          </a:prstGeom>
          <a:solidFill>
            <a:srgbClr val="00293D"/>
          </a:solidFill>
          <a:ln w="12700">
            <a:solidFill>
              <a:srgbClr val="0041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886200"/>
            <a:ext cx="54864" cy="96012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593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Readiness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27024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IFLA, CROSQ, UNESCO ICH, Dublin Core. One integration — regional compliance covered.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886200"/>
            <a:ext cx="4114800" cy="960120"/>
          </a:xfrm>
          <a:prstGeom prst="rect">
            <a:avLst/>
          </a:prstGeom>
          <a:solidFill>
            <a:srgbClr val="00293D"/>
          </a:solidFill>
          <a:ln w="12700">
            <a:solidFill>
              <a:srgbClr val="0041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886200"/>
            <a:ext cx="54864" cy="96012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9593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Trust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427024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community-built standard. Signal respect for Caribbean creators and audiences. Zero commercial strings attached.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hours. No rip-and-replace.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1005840" cy="105156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9903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00200" y="1490472"/>
            <a:ext cx="6903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CMS tags as keywords in your existing metadata fields (dc:subject, schema:keywords). No schema changes required.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514600"/>
            <a:ext cx="1005840" cy="105156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8775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00200" y="2679192"/>
            <a:ext cx="6903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6 CMS families to dedicated fields or schema:additionalProperty. Structured filtering and search enabled.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03320"/>
            <a:ext cx="1005840" cy="105156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7647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00200" y="3867912"/>
            <a:ext cx="6903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all 6 families as first-class metadata fields. Full certification scoring, editorial tooling, and API integration.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levels include: free documentation · open schema · validator tool · technical support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BACKING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international standards.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by international bodies.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011680" cy="1170432"/>
          </a:xfrm>
          <a:prstGeom prst="rect">
            <a:avLst/>
          </a:prstGeom>
          <a:solidFill>
            <a:srgbClr val="F0F7FA"/>
          </a:solidFill>
          <a:ln w="12700">
            <a:solidFill>
              <a:srgbClr val="C8E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IFLA METATEC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48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48640" y="24048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library metadata body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33472" y="1691640"/>
            <a:ext cx="2011680" cy="1170432"/>
          </a:xfrm>
          <a:prstGeom prst="rect">
            <a:avLst/>
          </a:prstGeom>
          <a:solidFill>
            <a:srgbClr val="F0F7FA"/>
          </a:solidFill>
          <a:ln w="12700">
            <a:solidFill>
              <a:srgbClr val="C8E5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CROSQ CARICOM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24912" y="2148840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2148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NWIP submitted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724912" y="24048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Caribbean regional standards organisation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09744" y="1691640"/>
            <a:ext cx="2011680" cy="1170432"/>
          </a:xfrm>
          <a:prstGeom prst="rect">
            <a:avLst/>
          </a:prstGeom>
          <a:solidFill>
            <a:srgbClr val="F0F7FA"/>
          </a:solidFill>
          <a:ln w="12700">
            <a:solidFill>
              <a:srgbClr val="C8E5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1184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AFNOR / ISO TC 46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01184" y="2148840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1184" y="2148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901184" y="24048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standards body &amp; ISO information committee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86016" y="1691640"/>
            <a:ext cx="2011680" cy="1170432"/>
          </a:xfrm>
          <a:prstGeom prst="rect">
            <a:avLst/>
          </a:prstGeom>
          <a:solidFill>
            <a:srgbClr val="F0F7FA"/>
          </a:solidFill>
          <a:ln w="12700">
            <a:solidFill>
              <a:srgbClr val="C8E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77456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ICH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77456" y="2148840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77456" y="2148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077456" y="24048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 Cultural Heritage programme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2011680" cy="1170432"/>
          </a:xfrm>
          <a:prstGeom prst="rect">
            <a:avLst/>
          </a:prstGeom>
          <a:solidFill>
            <a:srgbClr val="F0F7FA"/>
          </a:solidFill>
          <a:ln w="12700">
            <a:solidFill>
              <a:srgbClr val="C8E5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474720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474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37307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standards — schema.org alignment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633472" y="3017520"/>
            <a:ext cx="2011680" cy="1170432"/>
          </a:xfrm>
          <a:prstGeom prst="rect">
            <a:avLst/>
          </a:prstGeom>
          <a:solidFill>
            <a:srgbClr val="F0F7FA"/>
          </a:solidFill>
          <a:ln w="12700">
            <a:solidFill>
              <a:srgbClr val="C8E5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24912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Core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24912" y="3474720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24912" y="3474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24912" y="37307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metadata vocabulary alignment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9744" y="3017520"/>
            <a:ext cx="2011680" cy="1170432"/>
          </a:xfrm>
          <a:prstGeom prst="rect">
            <a:avLst/>
          </a:prstGeom>
          <a:solidFill>
            <a:srgbClr val="F0F7FA"/>
          </a:solidFill>
          <a:ln w="12700">
            <a:solidFill>
              <a:srgbClr val="C8E5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01184" y="3474720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3474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901184" y="37307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 &amp; rights metadata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986016" y="3017520"/>
            <a:ext cx="2011680" cy="1170432"/>
          </a:xfrm>
          <a:prstGeom prst="rect">
            <a:avLst/>
          </a:prstGeom>
          <a:solidFill>
            <a:srgbClr val="F0F7FA"/>
          </a:solidFill>
          <a:ln w="12700">
            <a:solidFill>
              <a:srgbClr val="C8E5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77456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ACS-AEC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077456" y="3474720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77456" y="3474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077456" y="37307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of Caribbean States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start today.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8366760" cy="914400"/>
          </a:xfrm>
          <a:prstGeom prst="rect">
            <a:avLst/>
          </a:prstGeom>
          <a:solidFill>
            <a:srgbClr val="00293D"/>
          </a:solidFill>
          <a:ln w="12700">
            <a:solidFill>
              <a:srgbClr val="0041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91640"/>
            <a:ext cx="640080" cy="91440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916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CMS Builder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09397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your first JSON-LD Caribbean metadata record in 5 minutes — no code required.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0" y="16916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caribbeanmetadata.org/#tagger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743200"/>
            <a:ext cx="8366760" cy="914400"/>
          </a:xfrm>
          <a:prstGeom prst="rect">
            <a:avLst/>
          </a:prstGeom>
          <a:solidFill>
            <a:srgbClr val="00293D"/>
          </a:solidFill>
          <a:ln w="12700">
            <a:solidFill>
              <a:srgbClr val="0041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743200"/>
            <a:ext cx="640080" cy="91440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7432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2834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Technical Brief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14553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detailed integration specification tailored to your platform's stack. Free, on request.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0" y="27432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contact@caribbeanmetadata.org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794760"/>
            <a:ext cx="8366760" cy="914400"/>
          </a:xfrm>
          <a:prstGeom prst="rect">
            <a:avLst/>
          </a:prstGeom>
          <a:solidFill>
            <a:srgbClr val="00293D"/>
          </a:solidFill>
          <a:ln w="12700">
            <a:solidFill>
              <a:srgbClr val="0041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794760"/>
            <a:ext cx="640080" cy="91440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7947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97280" y="3886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Adoption Agreement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19709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non-exclusive partnership agreement. No cost. No commercial obligation. One signature.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0" y="37947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caribbeanmetadata.org/collaborate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4864608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Caribbean Metadata Standard  ·  caribbeanmetadata.org  ·  contact@caribbeanmetadata.org  ·  Caribwood Language Lab, Guadeloupe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Caribbean Metadata Standard — Platform Deck</dc:title>
  <dc:subject>PptxGenJS Presentation</dc:subject>
  <dc:creator>Caribwood Language Lab</dc:creator>
  <cp:lastModifiedBy>Caribwood Language Lab</cp:lastModifiedBy>
  <cp:revision>1</cp:revision>
  <dcterms:created xsi:type="dcterms:W3CDTF">2026-06-06T21:26:15Z</dcterms:created>
  <dcterms:modified xsi:type="dcterms:W3CDTF">2026-06-06T21:26:15Z</dcterms:modified>
</cp:coreProperties>
</file>